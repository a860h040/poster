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2dc926017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22dc9260174_0_0:notes"/>
          <p:cNvSpPr/>
          <p:nvPr>
            <p:ph idx="2" type="sldImg"/>
          </p:nvPr>
        </p:nvSpPr>
        <p:spPr>
          <a:xfrm>
            <a:off x="-634892" y="685800"/>
            <a:ext cx="8128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6.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0"/>
            <a:ext cx="9144000" cy="555300"/>
          </a:xfrm>
          <a:prstGeom prst="rect">
            <a:avLst/>
          </a:prstGeom>
          <a:gradFill>
            <a:gsLst>
              <a:gs pos="0">
                <a:srgbClr val="162E5A"/>
              </a:gs>
              <a:gs pos="38000">
                <a:srgbClr val="204483"/>
              </a:gs>
              <a:gs pos="100000">
                <a:srgbClr val="27519D"/>
              </a:gs>
            </a:gsLst>
            <a:lin ang="5400012" scaled="0"/>
          </a:gradFill>
          <a:ln cap="flat" cmpd="sng" w="12700">
            <a:solidFill>
              <a:srgbClr val="31538F"/>
            </a:solidFill>
            <a:prstDash val="solid"/>
            <a:miter lim="800000"/>
            <a:headEnd len="sm" w="sm" type="none"/>
            <a:tailEnd len="sm" w="sm" type="none"/>
          </a:ln>
          <a:effectLst>
            <a:outerShdw blurRad="1181100" rotWithShape="0" algn="ctr" dir="5040000" dist="50800">
              <a:srgbClr val="000000">
                <a:alpha val="85880"/>
              </a:srgbClr>
            </a:outerShdw>
          </a:effectLst>
        </p:spPr>
        <p:txBody>
          <a:bodyPr anchorCtr="0" anchor="ctr" bIns="10850" lIns="21700" spcFirstLastPara="1" rIns="21700" wrap="square" tIns="10850">
            <a:noAutofit/>
          </a:bodyPr>
          <a:lstStyle/>
          <a:p>
            <a:pPr indent="0" lvl="0" marL="0" marR="0" rtl="0" algn="ctr">
              <a:spcBef>
                <a:spcPts val="0"/>
              </a:spcBef>
              <a:spcAft>
                <a:spcPts val="0"/>
              </a:spcAft>
              <a:buNone/>
            </a:pPr>
            <a:r>
              <a:t/>
            </a:r>
            <a:endParaRPr b="0" i="0" sz="1500" u="none" cap="none" strike="noStrike">
              <a:solidFill>
                <a:schemeClr val="lt1"/>
              </a:solidFill>
              <a:latin typeface="Times New Roman"/>
              <a:ea typeface="Times New Roman"/>
              <a:cs typeface="Times New Roman"/>
              <a:sym typeface="Times New Roman"/>
            </a:endParaRPr>
          </a:p>
        </p:txBody>
      </p:sp>
      <p:pic>
        <p:nvPicPr>
          <p:cNvPr id="55" name="Google Shape;55;p13"/>
          <p:cNvPicPr preferRelativeResize="0"/>
          <p:nvPr/>
        </p:nvPicPr>
        <p:blipFill rotWithShape="1">
          <a:blip r:embed="rId3">
            <a:alphaModFix/>
          </a:blip>
          <a:srcRect b="0" l="0" r="0" t="0"/>
          <a:stretch/>
        </p:blipFill>
        <p:spPr>
          <a:xfrm>
            <a:off x="8272703" y="113539"/>
            <a:ext cx="490104" cy="434559"/>
          </a:xfrm>
          <a:prstGeom prst="rect">
            <a:avLst/>
          </a:prstGeom>
          <a:noFill/>
          <a:ln>
            <a:noFill/>
          </a:ln>
        </p:spPr>
      </p:pic>
      <p:sp>
        <p:nvSpPr>
          <p:cNvPr id="56" name="Google Shape;56;p13"/>
          <p:cNvSpPr/>
          <p:nvPr/>
        </p:nvSpPr>
        <p:spPr>
          <a:xfrm>
            <a:off x="260691" y="51857"/>
            <a:ext cx="8729100" cy="206700"/>
          </a:xfrm>
          <a:prstGeom prst="rect">
            <a:avLst/>
          </a:prstGeom>
          <a:noFill/>
          <a:ln>
            <a:noFill/>
          </a:ln>
        </p:spPr>
        <p:txBody>
          <a:bodyPr anchorCtr="0" anchor="t" bIns="10850" lIns="21700" spcFirstLastPara="1" rIns="21700" wrap="square" tIns="10850">
            <a:noAutofit/>
          </a:bodyPr>
          <a:lstStyle/>
          <a:p>
            <a:pPr indent="0" lvl="0" marL="0" marR="0" rtl="0" algn="l">
              <a:spcBef>
                <a:spcPts val="0"/>
              </a:spcBef>
              <a:spcAft>
                <a:spcPts val="0"/>
              </a:spcAft>
              <a:buNone/>
            </a:pPr>
            <a:r>
              <a:rPr b="1" i="0" lang="en" sz="1900" u="none" cap="none" strike="noStrike">
                <a:solidFill>
                  <a:schemeClr val="lt1"/>
                </a:solidFill>
                <a:latin typeface="Times New Roman"/>
                <a:ea typeface="Times New Roman"/>
                <a:cs typeface="Times New Roman"/>
                <a:sym typeface="Times New Roman"/>
              </a:rPr>
              <a:t>The Effect of D(+)maltose and Curry on Glycogen Phosphorylase b</a:t>
            </a:r>
            <a:endParaRPr b="1" sz="1900">
              <a:solidFill>
                <a:schemeClr val="lt1"/>
              </a:solidFill>
              <a:latin typeface="Times New Roman"/>
              <a:ea typeface="Times New Roman"/>
              <a:cs typeface="Times New Roman"/>
              <a:sym typeface="Times New Roman"/>
            </a:endParaRPr>
          </a:p>
        </p:txBody>
      </p:sp>
      <p:sp>
        <p:nvSpPr>
          <p:cNvPr id="57" name="Google Shape;57;p13"/>
          <p:cNvSpPr/>
          <p:nvPr/>
        </p:nvSpPr>
        <p:spPr>
          <a:xfrm>
            <a:off x="708378" y="233951"/>
            <a:ext cx="7446300" cy="163500"/>
          </a:xfrm>
          <a:prstGeom prst="rect">
            <a:avLst/>
          </a:prstGeom>
          <a:noFill/>
          <a:ln>
            <a:noFill/>
          </a:ln>
        </p:spPr>
        <p:txBody>
          <a:bodyPr anchorCtr="0" anchor="t" bIns="10850" lIns="21700" spcFirstLastPara="1" rIns="21700" wrap="square" tIns="10850">
            <a:noAutofit/>
          </a:bodyPr>
          <a:lstStyle/>
          <a:p>
            <a:pPr indent="0" lvl="0" marL="0" marR="0" rtl="0" algn="ctr">
              <a:spcBef>
                <a:spcPts val="0"/>
              </a:spcBef>
              <a:spcAft>
                <a:spcPts val="0"/>
              </a:spcAft>
              <a:buNone/>
            </a:pPr>
            <a:r>
              <a:rPr b="1" lang="en" sz="1500">
                <a:solidFill>
                  <a:schemeClr val="lt1"/>
                </a:solidFill>
                <a:latin typeface="Times New Roman"/>
                <a:ea typeface="Times New Roman"/>
                <a:cs typeface="Times New Roman"/>
                <a:sym typeface="Times New Roman"/>
              </a:rPr>
              <a:t>Alhamzah Y. Hamzah, Alexander Michael Bowman, Roberto N. De Guzman</a:t>
            </a:r>
            <a:endParaRPr b="1" sz="1500">
              <a:solidFill>
                <a:schemeClr val="lt1"/>
              </a:solidFill>
              <a:latin typeface="Times New Roman"/>
              <a:ea typeface="Times New Roman"/>
              <a:cs typeface="Times New Roman"/>
              <a:sym typeface="Times New Roman"/>
            </a:endParaRPr>
          </a:p>
        </p:txBody>
      </p:sp>
      <p:sp>
        <p:nvSpPr>
          <p:cNvPr id="58" name="Google Shape;58;p13"/>
          <p:cNvSpPr/>
          <p:nvPr/>
        </p:nvSpPr>
        <p:spPr>
          <a:xfrm>
            <a:off x="-1263664" y="386428"/>
            <a:ext cx="11328300" cy="163500"/>
          </a:xfrm>
          <a:prstGeom prst="rect">
            <a:avLst/>
          </a:prstGeom>
          <a:noFill/>
          <a:ln>
            <a:noFill/>
          </a:ln>
        </p:spPr>
        <p:txBody>
          <a:bodyPr anchorCtr="0" anchor="t" bIns="10850" lIns="21700" spcFirstLastPara="1" rIns="21700" wrap="square" tIns="10850">
            <a:noAutofit/>
          </a:bodyPr>
          <a:lstStyle/>
          <a:p>
            <a:pPr indent="0" lvl="0" marL="0" marR="0" rtl="0" algn="ctr">
              <a:spcBef>
                <a:spcPts val="0"/>
              </a:spcBef>
              <a:spcAft>
                <a:spcPts val="0"/>
              </a:spcAft>
              <a:buNone/>
            </a:pPr>
            <a:r>
              <a:rPr lang="en" sz="1500">
                <a:solidFill>
                  <a:schemeClr val="lt1"/>
                </a:solidFill>
                <a:latin typeface="Times New Roman"/>
                <a:ea typeface="Times New Roman"/>
                <a:cs typeface="Times New Roman"/>
                <a:sym typeface="Times New Roman"/>
              </a:rPr>
              <a:t>Department of Molecular Biosciences University of Kansas, Lawrence, KS 66045, USA</a:t>
            </a:r>
            <a:endParaRPr sz="1500">
              <a:solidFill>
                <a:schemeClr val="lt1"/>
              </a:solidFill>
              <a:latin typeface="Times New Roman"/>
              <a:ea typeface="Times New Roman"/>
              <a:cs typeface="Times New Roman"/>
              <a:sym typeface="Times New Roman"/>
            </a:endParaRPr>
          </a:p>
        </p:txBody>
      </p:sp>
      <p:sp>
        <p:nvSpPr>
          <p:cNvPr id="59" name="Google Shape;59;p13"/>
          <p:cNvSpPr txBox="1"/>
          <p:nvPr/>
        </p:nvSpPr>
        <p:spPr>
          <a:xfrm>
            <a:off x="104422" y="616959"/>
            <a:ext cx="1207800" cy="268200"/>
          </a:xfrm>
          <a:prstGeom prst="rect">
            <a:avLst/>
          </a:prstGeom>
          <a:gradFill>
            <a:gsLst>
              <a:gs pos="0">
                <a:srgbClr val="162E5A"/>
              </a:gs>
              <a:gs pos="50000">
                <a:srgbClr val="204483"/>
              </a:gs>
              <a:gs pos="100000">
                <a:srgbClr val="27519D"/>
              </a:gs>
            </a:gsLst>
            <a:lin ang="13500032" scaled="0"/>
          </a:gradFill>
          <a:ln>
            <a:noFill/>
          </a:ln>
        </p:spPr>
        <p:txBody>
          <a:bodyPr anchorCtr="0" anchor="t" bIns="10850" lIns="21700" spcFirstLastPara="1" rIns="21700" wrap="square" tIns="10850">
            <a:spAutoFit/>
          </a:bodyPr>
          <a:lstStyle/>
          <a:p>
            <a:pPr indent="0" lvl="0" marL="0" marR="0" rtl="0" algn="ctr">
              <a:spcBef>
                <a:spcPts val="0"/>
              </a:spcBef>
              <a:spcAft>
                <a:spcPts val="0"/>
              </a:spcAft>
              <a:buNone/>
            </a:pPr>
            <a:r>
              <a:rPr lang="en" sz="1600">
                <a:solidFill>
                  <a:schemeClr val="lt1"/>
                </a:solidFill>
                <a:latin typeface="Times New Roman"/>
                <a:ea typeface="Times New Roman"/>
                <a:cs typeface="Times New Roman"/>
                <a:sym typeface="Times New Roman"/>
              </a:rPr>
              <a:t>Abstract:</a:t>
            </a:r>
            <a:endParaRPr sz="1600">
              <a:solidFill>
                <a:schemeClr val="lt1"/>
              </a:solidFill>
              <a:latin typeface="Times New Roman"/>
              <a:ea typeface="Times New Roman"/>
              <a:cs typeface="Times New Roman"/>
              <a:sym typeface="Times New Roman"/>
            </a:endParaRPr>
          </a:p>
        </p:txBody>
      </p:sp>
      <p:sp>
        <p:nvSpPr>
          <p:cNvPr id="60" name="Google Shape;60;p13"/>
          <p:cNvSpPr txBox="1"/>
          <p:nvPr/>
        </p:nvSpPr>
        <p:spPr>
          <a:xfrm>
            <a:off x="5336220" y="826787"/>
            <a:ext cx="1847700" cy="576000"/>
          </a:xfrm>
          <a:prstGeom prst="rect">
            <a:avLst/>
          </a:prstGeom>
          <a:noFill/>
          <a:ln>
            <a:noFill/>
          </a:ln>
        </p:spPr>
        <p:txBody>
          <a:bodyPr anchorCtr="0" anchor="t" bIns="10850" lIns="21700" spcFirstLastPara="1" rIns="21700" wrap="square" tIns="10850">
            <a:spAutoFit/>
          </a:bodyPr>
          <a:lstStyle/>
          <a:p>
            <a:pPr indent="0" lvl="0" marL="0" marR="0" rtl="0" algn="l">
              <a:spcBef>
                <a:spcPts val="0"/>
              </a:spcBef>
              <a:spcAft>
                <a:spcPts val="0"/>
              </a:spcAft>
              <a:buNone/>
            </a:pPr>
            <a:r>
              <a:rPr lang="en" sz="900">
                <a:solidFill>
                  <a:schemeClr val="dk1"/>
                </a:solidFill>
                <a:latin typeface="Times New Roman"/>
                <a:ea typeface="Times New Roman"/>
                <a:cs typeface="Times New Roman"/>
                <a:sym typeface="Times New Roman"/>
              </a:rPr>
              <a:t>To study the affection of d(+)moltose, AMP and Curry on glycogen Phosphorylase b </a:t>
            </a:r>
            <a:endParaRPr sz="9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900">
              <a:solidFill>
                <a:schemeClr val="dk1"/>
              </a:solidFill>
              <a:latin typeface="Times New Roman"/>
              <a:ea typeface="Times New Roman"/>
              <a:cs typeface="Times New Roman"/>
              <a:sym typeface="Times New Roman"/>
            </a:endParaRPr>
          </a:p>
        </p:txBody>
      </p:sp>
      <p:sp>
        <p:nvSpPr>
          <p:cNvPr id="61" name="Google Shape;61;p13"/>
          <p:cNvSpPr txBox="1"/>
          <p:nvPr/>
        </p:nvSpPr>
        <p:spPr>
          <a:xfrm>
            <a:off x="7261833" y="839773"/>
            <a:ext cx="1771800" cy="576000"/>
          </a:xfrm>
          <a:prstGeom prst="rect">
            <a:avLst/>
          </a:prstGeom>
          <a:noFill/>
          <a:ln>
            <a:noFill/>
          </a:ln>
        </p:spPr>
        <p:txBody>
          <a:bodyPr anchorCtr="0" anchor="t" bIns="10850" lIns="21700" spcFirstLastPara="1" rIns="21700" wrap="square" tIns="10850">
            <a:spAutoFit/>
          </a:bodyPr>
          <a:lstStyle/>
          <a:p>
            <a:pPr indent="0" lvl="0" marL="0" marR="0" rtl="0" algn="l">
              <a:spcBef>
                <a:spcPts val="0"/>
              </a:spcBef>
              <a:spcAft>
                <a:spcPts val="0"/>
              </a:spcAft>
              <a:buNone/>
            </a:pPr>
            <a:r>
              <a:rPr lang="en" sz="900">
                <a:solidFill>
                  <a:schemeClr val="dk1"/>
                </a:solidFill>
                <a:latin typeface="Times New Roman"/>
                <a:ea typeface="Times New Roman"/>
                <a:cs typeface="Times New Roman"/>
                <a:sym typeface="Times New Roman"/>
              </a:rPr>
              <a:t>Using Fluorescence and Allosteric regulation to determine the velocity of the enzyme in the percent of the effectors.</a:t>
            </a:r>
            <a:endParaRPr sz="900">
              <a:solidFill>
                <a:schemeClr val="dk1"/>
              </a:solidFill>
              <a:latin typeface="Times New Roman"/>
              <a:ea typeface="Times New Roman"/>
              <a:cs typeface="Times New Roman"/>
              <a:sym typeface="Times New Roman"/>
            </a:endParaRPr>
          </a:p>
        </p:txBody>
      </p:sp>
      <p:sp>
        <p:nvSpPr>
          <p:cNvPr id="62" name="Google Shape;62;p13"/>
          <p:cNvSpPr txBox="1"/>
          <p:nvPr/>
        </p:nvSpPr>
        <p:spPr>
          <a:xfrm>
            <a:off x="5199014" y="625972"/>
            <a:ext cx="1527300" cy="268200"/>
          </a:xfrm>
          <a:prstGeom prst="rect">
            <a:avLst/>
          </a:prstGeom>
          <a:gradFill>
            <a:gsLst>
              <a:gs pos="0">
                <a:srgbClr val="162E5A"/>
              </a:gs>
              <a:gs pos="50000">
                <a:srgbClr val="204483"/>
              </a:gs>
              <a:gs pos="100000">
                <a:srgbClr val="27519D"/>
              </a:gs>
            </a:gsLst>
            <a:lin ang="13500032" scaled="0"/>
          </a:gradFill>
          <a:ln>
            <a:noFill/>
          </a:ln>
        </p:spPr>
        <p:txBody>
          <a:bodyPr anchorCtr="0" anchor="t" bIns="10850" lIns="21700" spcFirstLastPara="1" rIns="21700" wrap="square" tIns="10850">
            <a:spAutoFit/>
          </a:bodyPr>
          <a:lstStyle/>
          <a:p>
            <a:pPr indent="0" lvl="0" marL="0" marR="0" rtl="0" algn="ctr">
              <a:spcBef>
                <a:spcPts val="0"/>
              </a:spcBef>
              <a:spcAft>
                <a:spcPts val="0"/>
              </a:spcAft>
              <a:buNone/>
            </a:pPr>
            <a:r>
              <a:rPr b="1" lang="en" sz="1600">
                <a:solidFill>
                  <a:schemeClr val="lt1"/>
                </a:solidFill>
                <a:latin typeface="Times New Roman"/>
                <a:ea typeface="Times New Roman"/>
                <a:cs typeface="Times New Roman"/>
                <a:sym typeface="Times New Roman"/>
              </a:rPr>
              <a:t>Aim of Study:</a:t>
            </a:r>
            <a:endParaRPr b="1" sz="1600">
              <a:solidFill>
                <a:schemeClr val="lt1"/>
              </a:solidFill>
              <a:latin typeface="Times New Roman"/>
              <a:ea typeface="Times New Roman"/>
              <a:cs typeface="Times New Roman"/>
              <a:sym typeface="Times New Roman"/>
            </a:endParaRPr>
          </a:p>
        </p:txBody>
      </p:sp>
      <p:sp>
        <p:nvSpPr>
          <p:cNvPr id="63" name="Google Shape;63;p13"/>
          <p:cNvSpPr txBox="1"/>
          <p:nvPr/>
        </p:nvSpPr>
        <p:spPr>
          <a:xfrm>
            <a:off x="7247828" y="632438"/>
            <a:ext cx="1400400" cy="268200"/>
          </a:xfrm>
          <a:prstGeom prst="rect">
            <a:avLst/>
          </a:prstGeom>
          <a:gradFill>
            <a:gsLst>
              <a:gs pos="0">
                <a:srgbClr val="162E5A"/>
              </a:gs>
              <a:gs pos="50000">
                <a:srgbClr val="204483"/>
              </a:gs>
              <a:gs pos="100000">
                <a:srgbClr val="27519D"/>
              </a:gs>
            </a:gsLst>
            <a:lin ang="13500032" scaled="0"/>
          </a:gradFill>
          <a:ln>
            <a:noFill/>
          </a:ln>
        </p:spPr>
        <p:txBody>
          <a:bodyPr anchorCtr="0" anchor="t" bIns="10850" lIns="21700" spcFirstLastPara="1" rIns="21700" wrap="square" tIns="10850">
            <a:spAutoFit/>
          </a:bodyPr>
          <a:lstStyle/>
          <a:p>
            <a:pPr indent="0" lvl="0" marL="0" marR="0" rtl="0" algn="ctr">
              <a:spcBef>
                <a:spcPts val="0"/>
              </a:spcBef>
              <a:spcAft>
                <a:spcPts val="0"/>
              </a:spcAft>
              <a:buNone/>
            </a:pPr>
            <a:r>
              <a:rPr b="1" lang="en" sz="1600">
                <a:solidFill>
                  <a:schemeClr val="lt1"/>
                </a:solidFill>
                <a:latin typeface="Times New Roman"/>
                <a:ea typeface="Times New Roman"/>
                <a:cs typeface="Times New Roman"/>
                <a:sym typeface="Times New Roman"/>
              </a:rPr>
              <a:t>Approach:</a:t>
            </a:r>
            <a:endParaRPr b="1" sz="1600">
              <a:solidFill>
                <a:schemeClr val="lt1"/>
              </a:solidFill>
              <a:latin typeface="Times New Roman"/>
              <a:ea typeface="Times New Roman"/>
              <a:cs typeface="Times New Roman"/>
              <a:sym typeface="Times New Roman"/>
            </a:endParaRPr>
          </a:p>
        </p:txBody>
      </p:sp>
      <p:sp>
        <p:nvSpPr>
          <p:cNvPr id="64" name="Google Shape;64;p13"/>
          <p:cNvSpPr txBox="1"/>
          <p:nvPr/>
        </p:nvSpPr>
        <p:spPr>
          <a:xfrm>
            <a:off x="5199014" y="1130359"/>
            <a:ext cx="1527300" cy="268200"/>
          </a:xfrm>
          <a:prstGeom prst="rect">
            <a:avLst/>
          </a:prstGeom>
          <a:gradFill>
            <a:gsLst>
              <a:gs pos="0">
                <a:srgbClr val="162E5A"/>
              </a:gs>
              <a:gs pos="50000">
                <a:srgbClr val="204483"/>
              </a:gs>
              <a:gs pos="100000">
                <a:srgbClr val="27519D"/>
              </a:gs>
            </a:gsLst>
            <a:lin ang="13500032" scaled="0"/>
          </a:gradFill>
          <a:ln>
            <a:noFill/>
          </a:ln>
        </p:spPr>
        <p:txBody>
          <a:bodyPr anchorCtr="0" anchor="t" bIns="10850" lIns="21700" spcFirstLastPara="1" rIns="21700" wrap="square" tIns="10850">
            <a:spAutoFit/>
          </a:bodyPr>
          <a:lstStyle/>
          <a:p>
            <a:pPr indent="0" lvl="0" marL="0" marR="0" rtl="0" algn="ctr">
              <a:spcBef>
                <a:spcPts val="0"/>
              </a:spcBef>
              <a:spcAft>
                <a:spcPts val="0"/>
              </a:spcAft>
              <a:buNone/>
            </a:pPr>
            <a:r>
              <a:rPr b="1" lang="en" sz="1600">
                <a:solidFill>
                  <a:schemeClr val="lt1"/>
                </a:solidFill>
                <a:latin typeface="Times New Roman"/>
                <a:ea typeface="Times New Roman"/>
                <a:cs typeface="Times New Roman"/>
                <a:sym typeface="Times New Roman"/>
              </a:rPr>
              <a:t>Results:</a:t>
            </a:r>
            <a:endParaRPr b="1" sz="1600">
              <a:solidFill>
                <a:schemeClr val="lt1"/>
              </a:solidFill>
              <a:latin typeface="Times New Roman"/>
              <a:ea typeface="Times New Roman"/>
              <a:cs typeface="Times New Roman"/>
              <a:sym typeface="Times New Roman"/>
            </a:endParaRPr>
          </a:p>
        </p:txBody>
      </p:sp>
      <p:sp>
        <p:nvSpPr>
          <p:cNvPr id="65" name="Google Shape;65;p13"/>
          <p:cNvSpPr/>
          <p:nvPr/>
        </p:nvSpPr>
        <p:spPr>
          <a:xfrm>
            <a:off x="104422" y="790084"/>
            <a:ext cx="5016600" cy="993000"/>
          </a:xfrm>
          <a:prstGeom prst="rect">
            <a:avLst/>
          </a:prstGeom>
          <a:noFill/>
          <a:ln>
            <a:noFill/>
          </a:ln>
        </p:spPr>
        <p:txBody>
          <a:bodyPr anchorCtr="0" anchor="t" bIns="10850" lIns="21700" spcFirstLastPara="1" rIns="21700" wrap="square" tIns="10850">
            <a:noAutofit/>
          </a:bodyPr>
          <a:lstStyle/>
          <a:p>
            <a:pPr indent="0" lvl="0" marL="0" marR="0" rtl="0" algn="just">
              <a:spcBef>
                <a:spcPts val="0"/>
              </a:spcBef>
              <a:spcAft>
                <a:spcPts val="0"/>
              </a:spcAft>
              <a:buNone/>
            </a:pPr>
            <a:r>
              <a:rPr lang="en" sz="900">
                <a:solidFill>
                  <a:srgbClr val="000000"/>
                </a:solidFill>
                <a:latin typeface="Times New Roman"/>
                <a:ea typeface="Times New Roman"/>
                <a:cs typeface="Times New Roman"/>
                <a:sym typeface="Times New Roman"/>
              </a:rPr>
              <a:t>Glycogen phosphorylase b is an inactive enzyme that is involved in the glycogen metabolism. Fluorescence spectroscopy was applied on the enzyme to identify molecular components of glycogen phosphorylase b. Its molecular components contain dimer of two identical subunits. It does not contain a phosphate group which makes it different from glycogen phosphorylase a (the active form). Glycogen phosphorylase b is commonly found in the liver, where glucose gets stored as glycogen. The experiment was done on glycogen phosphorylase b to analyze its reaction toward d(+)maltose and Curry. To analyze it’s activity, we measured the absorbance of an inorganic phosphate. D(+)maltose and Curry were used at different concentrations to find out if d(+)maltose and Curry act as an inhibitor or activator by analyzing the change in Michaelis-Menten curve. After analyzing the data that was collected, both d(+)maltose and curry acts as an inhibitor.</a:t>
            </a:r>
            <a:r>
              <a:rPr lang="en" sz="900">
                <a:solidFill>
                  <a:schemeClr val="dk1"/>
                </a:solidFill>
                <a:latin typeface="Times New Roman"/>
                <a:ea typeface="Times New Roman"/>
                <a:cs typeface="Times New Roman"/>
                <a:sym typeface="Times New Roman"/>
              </a:rPr>
              <a:t> </a:t>
            </a:r>
            <a:endParaRPr sz="900">
              <a:solidFill>
                <a:schemeClr val="dk1"/>
              </a:solidFill>
              <a:latin typeface="Times New Roman"/>
              <a:ea typeface="Times New Roman"/>
              <a:cs typeface="Times New Roman"/>
              <a:sym typeface="Times New Roman"/>
            </a:endParaRPr>
          </a:p>
        </p:txBody>
      </p:sp>
      <p:pic>
        <p:nvPicPr>
          <p:cNvPr id="66" name="Google Shape;66;p13"/>
          <p:cNvPicPr preferRelativeResize="0"/>
          <p:nvPr/>
        </p:nvPicPr>
        <p:blipFill rotWithShape="1">
          <a:blip r:embed="rId4">
            <a:alphaModFix/>
          </a:blip>
          <a:srcRect b="0" l="0" r="0" t="0"/>
          <a:stretch/>
        </p:blipFill>
        <p:spPr>
          <a:xfrm>
            <a:off x="5670001" y="1315143"/>
            <a:ext cx="1675218" cy="936538"/>
          </a:xfrm>
          <a:prstGeom prst="rect">
            <a:avLst/>
          </a:prstGeom>
          <a:noFill/>
          <a:ln>
            <a:noFill/>
          </a:ln>
        </p:spPr>
      </p:pic>
      <p:pic>
        <p:nvPicPr>
          <p:cNvPr id="67" name="Google Shape;67;p13"/>
          <p:cNvPicPr preferRelativeResize="0"/>
          <p:nvPr/>
        </p:nvPicPr>
        <p:blipFill rotWithShape="1">
          <a:blip r:embed="rId5">
            <a:alphaModFix/>
          </a:blip>
          <a:srcRect b="0" l="0" r="0" t="0"/>
          <a:stretch/>
        </p:blipFill>
        <p:spPr>
          <a:xfrm>
            <a:off x="5548522" y="2337598"/>
            <a:ext cx="1811880" cy="992025"/>
          </a:xfrm>
          <a:prstGeom prst="rect">
            <a:avLst/>
          </a:prstGeom>
          <a:noFill/>
          <a:ln>
            <a:noFill/>
          </a:ln>
        </p:spPr>
      </p:pic>
      <p:pic>
        <p:nvPicPr>
          <p:cNvPr id="68" name="Google Shape;68;p13"/>
          <p:cNvPicPr preferRelativeResize="0"/>
          <p:nvPr/>
        </p:nvPicPr>
        <p:blipFill rotWithShape="1">
          <a:blip r:embed="rId6">
            <a:alphaModFix/>
          </a:blip>
          <a:srcRect b="0" l="0" r="0" t="0"/>
          <a:stretch/>
        </p:blipFill>
        <p:spPr>
          <a:xfrm>
            <a:off x="5664286" y="3383258"/>
            <a:ext cx="1746763" cy="925020"/>
          </a:xfrm>
          <a:prstGeom prst="rect">
            <a:avLst/>
          </a:prstGeom>
          <a:noFill/>
          <a:ln>
            <a:noFill/>
          </a:ln>
        </p:spPr>
      </p:pic>
      <p:pic>
        <p:nvPicPr>
          <p:cNvPr id="69" name="Google Shape;69;p13"/>
          <p:cNvPicPr preferRelativeResize="0"/>
          <p:nvPr/>
        </p:nvPicPr>
        <p:blipFill rotWithShape="1">
          <a:blip r:embed="rId7">
            <a:alphaModFix/>
          </a:blip>
          <a:srcRect b="0" l="0" r="0" t="0"/>
          <a:stretch/>
        </p:blipFill>
        <p:spPr>
          <a:xfrm>
            <a:off x="494785" y="2018776"/>
            <a:ext cx="2602286" cy="1386079"/>
          </a:xfrm>
          <a:prstGeom prst="rect">
            <a:avLst/>
          </a:prstGeom>
          <a:noFill/>
          <a:ln>
            <a:noFill/>
          </a:ln>
        </p:spPr>
      </p:pic>
      <p:pic>
        <p:nvPicPr>
          <p:cNvPr id="70" name="Google Shape;70;p13"/>
          <p:cNvPicPr preferRelativeResize="0"/>
          <p:nvPr/>
        </p:nvPicPr>
        <p:blipFill rotWithShape="1">
          <a:blip r:embed="rId8">
            <a:alphaModFix/>
          </a:blip>
          <a:srcRect b="0" l="0" r="0" t="0"/>
          <a:stretch/>
        </p:blipFill>
        <p:spPr>
          <a:xfrm>
            <a:off x="260356" y="3373080"/>
            <a:ext cx="2721593" cy="1449622"/>
          </a:xfrm>
          <a:prstGeom prst="rect">
            <a:avLst/>
          </a:prstGeom>
          <a:noFill/>
          <a:ln>
            <a:noFill/>
          </a:ln>
        </p:spPr>
      </p:pic>
      <p:sp>
        <p:nvSpPr>
          <p:cNvPr id="71" name="Google Shape;71;p13"/>
          <p:cNvSpPr txBox="1"/>
          <p:nvPr/>
        </p:nvSpPr>
        <p:spPr>
          <a:xfrm>
            <a:off x="476105" y="3269687"/>
            <a:ext cx="4828200" cy="160500"/>
          </a:xfrm>
          <a:prstGeom prst="rect">
            <a:avLst/>
          </a:prstGeom>
          <a:noFill/>
          <a:ln>
            <a:noFill/>
          </a:ln>
        </p:spPr>
        <p:txBody>
          <a:bodyPr anchorCtr="0" anchor="t" bIns="10850" lIns="21700" spcFirstLastPara="1" rIns="21700" wrap="square" tIns="10850">
            <a:spAutoFit/>
          </a:bodyPr>
          <a:lstStyle/>
          <a:p>
            <a:pPr indent="0" lvl="0" marL="0" marR="0" rtl="0" algn="l">
              <a:spcBef>
                <a:spcPts val="0"/>
              </a:spcBef>
              <a:spcAft>
                <a:spcPts val="0"/>
              </a:spcAft>
              <a:buNone/>
            </a:pPr>
            <a:r>
              <a:rPr lang="en" sz="900">
                <a:solidFill>
                  <a:schemeClr val="dk1"/>
                </a:solidFill>
                <a:latin typeface="Times New Roman"/>
                <a:ea typeface="Times New Roman"/>
                <a:cs typeface="Times New Roman"/>
                <a:sym typeface="Times New Roman"/>
              </a:rPr>
              <a:t>Figure 1: AMP binds to glycogen phosphorylase b and acts as an activator (). </a:t>
            </a:r>
            <a:endParaRPr sz="900">
              <a:solidFill>
                <a:schemeClr val="dk1"/>
              </a:solidFill>
              <a:latin typeface="Times New Roman"/>
              <a:ea typeface="Times New Roman"/>
              <a:cs typeface="Times New Roman"/>
              <a:sym typeface="Times New Roman"/>
            </a:endParaRPr>
          </a:p>
        </p:txBody>
      </p:sp>
      <p:sp>
        <p:nvSpPr>
          <p:cNvPr id="72" name="Google Shape;72;p13"/>
          <p:cNvSpPr txBox="1"/>
          <p:nvPr/>
        </p:nvSpPr>
        <p:spPr>
          <a:xfrm>
            <a:off x="476105" y="4822704"/>
            <a:ext cx="4457700" cy="160500"/>
          </a:xfrm>
          <a:prstGeom prst="rect">
            <a:avLst/>
          </a:prstGeom>
          <a:noFill/>
          <a:ln>
            <a:noFill/>
          </a:ln>
        </p:spPr>
        <p:txBody>
          <a:bodyPr anchorCtr="0" anchor="t" bIns="10850" lIns="21700" spcFirstLastPara="1" rIns="21700" wrap="square" tIns="10850">
            <a:spAutoFit/>
          </a:bodyPr>
          <a:lstStyle/>
          <a:p>
            <a:pPr indent="0" lvl="0" marL="0" marR="0" rtl="0" algn="l">
              <a:spcBef>
                <a:spcPts val="0"/>
              </a:spcBef>
              <a:spcAft>
                <a:spcPts val="0"/>
              </a:spcAft>
              <a:buNone/>
            </a:pPr>
            <a:r>
              <a:rPr lang="en" sz="900">
                <a:solidFill>
                  <a:schemeClr val="dk1"/>
                </a:solidFill>
                <a:latin typeface="Times New Roman"/>
                <a:ea typeface="Times New Roman"/>
                <a:cs typeface="Times New Roman"/>
                <a:sym typeface="Times New Roman"/>
              </a:rPr>
              <a:t>Figure 2: D(+)maltose binds to glycogen phosphorylase b and act as an inhibiter (). </a:t>
            </a:r>
            <a:endParaRPr sz="900">
              <a:solidFill>
                <a:schemeClr val="dk1"/>
              </a:solidFill>
              <a:latin typeface="Times New Roman"/>
              <a:ea typeface="Times New Roman"/>
              <a:cs typeface="Times New Roman"/>
              <a:sym typeface="Times New Roman"/>
            </a:endParaRPr>
          </a:p>
        </p:txBody>
      </p:sp>
      <p:sp>
        <p:nvSpPr>
          <p:cNvPr id="73" name="Google Shape;73;p13"/>
          <p:cNvSpPr txBox="1"/>
          <p:nvPr/>
        </p:nvSpPr>
        <p:spPr>
          <a:xfrm>
            <a:off x="104422" y="1893946"/>
            <a:ext cx="1350900" cy="268200"/>
          </a:xfrm>
          <a:prstGeom prst="rect">
            <a:avLst/>
          </a:prstGeom>
          <a:gradFill>
            <a:gsLst>
              <a:gs pos="0">
                <a:srgbClr val="162E5A"/>
              </a:gs>
              <a:gs pos="50000">
                <a:srgbClr val="204483"/>
              </a:gs>
              <a:gs pos="100000">
                <a:srgbClr val="27519D"/>
              </a:gs>
            </a:gsLst>
            <a:lin ang="13500032" scaled="0"/>
          </a:gradFill>
          <a:ln>
            <a:noFill/>
          </a:ln>
        </p:spPr>
        <p:txBody>
          <a:bodyPr anchorCtr="0" anchor="t" bIns="10850" lIns="21700" spcFirstLastPara="1" rIns="21700" wrap="square" tIns="10850">
            <a:spAutoFit/>
          </a:bodyPr>
          <a:lstStyle/>
          <a:p>
            <a:pPr indent="0" lvl="0" marL="0" marR="0" rtl="0" algn="ctr">
              <a:spcBef>
                <a:spcPts val="0"/>
              </a:spcBef>
              <a:spcAft>
                <a:spcPts val="0"/>
              </a:spcAft>
              <a:buNone/>
            </a:pPr>
            <a:r>
              <a:rPr lang="en" sz="1600">
                <a:solidFill>
                  <a:schemeClr val="lt1"/>
                </a:solidFill>
                <a:latin typeface="Times New Roman"/>
                <a:ea typeface="Times New Roman"/>
                <a:cs typeface="Times New Roman"/>
                <a:sym typeface="Times New Roman"/>
              </a:rPr>
              <a:t>Background:</a:t>
            </a:r>
            <a:endParaRPr sz="1600">
              <a:solidFill>
                <a:schemeClr val="lt1"/>
              </a:solidFill>
              <a:latin typeface="Times New Roman"/>
              <a:ea typeface="Times New Roman"/>
              <a:cs typeface="Times New Roman"/>
              <a:sym typeface="Times New Roman"/>
            </a:endParaRPr>
          </a:p>
        </p:txBody>
      </p:sp>
      <p:sp>
        <p:nvSpPr>
          <p:cNvPr id="74" name="Google Shape;74;p13"/>
          <p:cNvSpPr txBox="1"/>
          <p:nvPr/>
        </p:nvSpPr>
        <p:spPr>
          <a:xfrm>
            <a:off x="5121074" y="2225992"/>
            <a:ext cx="3912600" cy="160500"/>
          </a:xfrm>
          <a:prstGeom prst="rect">
            <a:avLst/>
          </a:prstGeom>
          <a:noFill/>
          <a:ln>
            <a:noFill/>
          </a:ln>
        </p:spPr>
        <p:txBody>
          <a:bodyPr anchorCtr="0" anchor="t" bIns="10850" lIns="21700" spcFirstLastPara="1" rIns="21700" wrap="square" tIns="10850">
            <a:spAutoFit/>
          </a:bodyPr>
          <a:lstStyle/>
          <a:p>
            <a:pPr indent="0" lvl="0" marL="0" marR="0" rtl="0" algn="l">
              <a:spcBef>
                <a:spcPts val="0"/>
              </a:spcBef>
              <a:spcAft>
                <a:spcPts val="0"/>
              </a:spcAft>
              <a:buNone/>
            </a:pPr>
            <a:r>
              <a:rPr lang="en" sz="900">
                <a:solidFill>
                  <a:schemeClr val="dk1"/>
                </a:solidFill>
                <a:latin typeface="Times New Roman"/>
                <a:ea typeface="Times New Roman"/>
                <a:cs typeface="Times New Roman"/>
                <a:sym typeface="Times New Roman"/>
              </a:rPr>
              <a:t>Graph 1: AMP speeds up glycogen phosphorylase b activity. </a:t>
            </a:r>
            <a:endParaRPr sz="900">
              <a:solidFill>
                <a:schemeClr val="dk1"/>
              </a:solidFill>
              <a:latin typeface="Times New Roman"/>
              <a:ea typeface="Times New Roman"/>
              <a:cs typeface="Times New Roman"/>
              <a:sym typeface="Times New Roman"/>
            </a:endParaRPr>
          </a:p>
        </p:txBody>
      </p:sp>
      <p:sp>
        <p:nvSpPr>
          <p:cNvPr id="75" name="Google Shape;75;p13"/>
          <p:cNvSpPr txBox="1"/>
          <p:nvPr/>
        </p:nvSpPr>
        <p:spPr>
          <a:xfrm>
            <a:off x="5207843" y="3301460"/>
            <a:ext cx="3834600" cy="160500"/>
          </a:xfrm>
          <a:prstGeom prst="rect">
            <a:avLst/>
          </a:prstGeom>
          <a:noFill/>
          <a:ln>
            <a:noFill/>
          </a:ln>
        </p:spPr>
        <p:txBody>
          <a:bodyPr anchorCtr="0" anchor="t" bIns="10850" lIns="21700" spcFirstLastPara="1" rIns="21700" wrap="square" tIns="10850">
            <a:spAutoFit/>
          </a:bodyPr>
          <a:lstStyle/>
          <a:p>
            <a:pPr indent="0" lvl="0" marL="0" marR="0" rtl="0" algn="l">
              <a:spcBef>
                <a:spcPts val="0"/>
              </a:spcBef>
              <a:spcAft>
                <a:spcPts val="0"/>
              </a:spcAft>
              <a:buNone/>
            </a:pPr>
            <a:r>
              <a:rPr lang="en" sz="900">
                <a:solidFill>
                  <a:schemeClr val="dk1"/>
                </a:solidFill>
                <a:latin typeface="Times New Roman"/>
                <a:ea typeface="Times New Roman"/>
                <a:cs typeface="Times New Roman"/>
                <a:sym typeface="Times New Roman"/>
              </a:rPr>
              <a:t>Graph 2: D(+)maltose slows down glycogen phosphorylase b activity. </a:t>
            </a:r>
            <a:endParaRPr sz="900">
              <a:solidFill>
                <a:schemeClr val="dk1"/>
              </a:solidFill>
              <a:latin typeface="Times New Roman"/>
              <a:ea typeface="Times New Roman"/>
              <a:cs typeface="Times New Roman"/>
              <a:sym typeface="Times New Roman"/>
            </a:endParaRPr>
          </a:p>
        </p:txBody>
      </p:sp>
      <p:sp>
        <p:nvSpPr>
          <p:cNvPr id="76" name="Google Shape;76;p13"/>
          <p:cNvSpPr txBox="1"/>
          <p:nvPr/>
        </p:nvSpPr>
        <p:spPr>
          <a:xfrm>
            <a:off x="5366346" y="4291308"/>
            <a:ext cx="3517500" cy="160500"/>
          </a:xfrm>
          <a:prstGeom prst="rect">
            <a:avLst/>
          </a:prstGeom>
          <a:noFill/>
          <a:ln>
            <a:noFill/>
          </a:ln>
        </p:spPr>
        <p:txBody>
          <a:bodyPr anchorCtr="0" anchor="t" bIns="10850" lIns="21700" spcFirstLastPara="1" rIns="21700" wrap="square" tIns="10850">
            <a:spAutoFit/>
          </a:bodyPr>
          <a:lstStyle/>
          <a:p>
            <a:pPr indent="0" lvl="0" marL="0" marR="0" rtl="0" algn="l">
              <a:spcBef>
                <a:spcPts val="0"/>
              </a:spcBef>
              <a:spcAft>
                <a:spcPts val="0"/>
              </a:spcAft>
              <a:buNone/>
            </a:pPr>
            <a:r>
              <a:rPr lang="en" sz="900">
                <a:solidFill>
                  <a:schemeClr val="dk1"/>
                </a:solidFill>
                <a:latin typeface="Times New Roman"/>
                <a:ea typeface="Times New Roman"/>
                <a:cs typeface="Times New Roman"/>
                <a:sym typeface="Times New Roman"/>
              </a:rPr>
              <a:t>Graph 3: Curry  slows down glycogen phosphorylase b activity. </a:t>
            </a:r>
            <a:endParaRPr sz="900">
              <a:solidFill>
                <a:schemeClr val="dk1"/>
              </a:solidFill>
              <a:latin typeface="Times New Roman"/>
              <a:ea typeface="Times New Roman"/>
              <a:cs typeface="Times New Roman"/>
              <a:sym typeface="Times New Roman"/>
            </a:endParaRPr>
          </a:p>
        </p:txBody>
      </p:sp>
      <p:sp>
        <p:nvSpPr>
          <p:cNvPr id="77" name="Google Shape;77;p13"/>
          <p:cNvSpPr txBox="1"/>
          <p:nvPr/>
        </p:nvSpPr>
        <p:spPr>
          <a:xfrm>
            <a:off x="5199014" y="4420412"/>
            <a:ext cx="1527300" cy="268200"/>
          </a:xfrm>
          <a:prstGeom prst="rect">
            <a:avLst/>
          </a:prstGeom>
          <a:gradFill>
            <a:gsLst>
              <a:gs pos="0">
                <a:srgbClr val="162E5A"/>
              </a:gs>
              <a:gs pos="50000">
                <a:srgbClr val="204483"/>
              </a:gs>
              <a:gs pos="100000">
                <a:srgbClr val="27519D"/>
              </a:gs>
            </a:gsLst>
            <a:lin ang="13500032" scaled="0"/>
          </a:gradFill>
          <a:ln>
            <a:noFill/>
          </a:ln>
        </p:spPr>
        <p:txBody>
          <a:bodyPr anchorCtr="0" anchor="t" bIns="10850" lIns="21700" spcFirstLastPara="1" rIns="21700" wrap="square" tIns="10850">
            <a:spAutoFit/>
          </a:bodyPr>
          <a:lstStyle/>
          <a:p>
            <a:pPr indent="0" lvl="0" marL="0" marR="0" rtl="0" algn="ctr">
              <a:spcBef>
                <a:spcPts val="0"/>
              </a:spcBef>
              <a:spcAft>
                <a:spcPts val="0"/>
              </a:spcAft>
              <a:buNone/>
            </a:pPr>
            <a:r>
              <a:rPr lang="en" sz="1600">
                <a:solidFill>
                  <a:schemeClr val="lt1"/>
                </a:solidFill>
                <a:latin typeface="Times New Roman"/>
                <a:ea typeface="Times New Roman"/>
                <a:cs typeface="Times New Roman"/>
                <a:sym typeface="Times New Roman"/>
              </a:rPr>
              <a:t>Conclusions:</a:t>
            </a:r>
            <a:endParaRPr sz="1600">
              <a:solidFill>
                <a:schemeClr val="lt1"/>
              </a:solidFill>
              <a:latin typeface="Times New Roman"/>
              <a:ea typeface="Times New Roman"/>
              <a:cs typeface="Times New Roman"/>
              <a:sym typeface="Times New Roman"/>
            </a:endParaRPr>
          </a:p>
        </p:txBody>
      </p:sp>
      <p:sp>
        <p:nvSpPr>
          <p:cNvPr id="78" name="Google Shape;78;p13"/>
          <p:cNvSpPr txBox="1"/>
          <p:nvPr/>
        </p:nvSpPr>
        <p:spPr>
          <a:xfrm>
            <a:off x="5260412" y="4628181"/>
            <a:ext cx="3729300" cy="299100"/>
          </a:xfrm>
          <a:prstGeom prst="rect">
            <a:avLst/>
          </a:prstGeom>
          <a:noFill/>
          <a:ln>
            <a:noFill/>
          </a:ln>
        </p:spPr>
        <p:txBody>
          <a:bodyPr anchorCtr="0" anchor="t" bIns="10850" lIns="21700" spcFirstLastPara="1" rIns="21700" wrap="square" tIns="10850">
            <a:spAutoFit/>
          </a:bodyPr>
          <a:lstStyle/>
          <a:p>
            <a:pPr indent="0" lvl="0" marL="0" marR="0" rtl="0" algn="l">
              <a:spcBef>
                <a:spcPts val="0"/>
              </a:spcBef>
              <a:spcAft>
                <a:spcPts val="0"/>
              </a:spcAft>
              <a:buNone/>
            </a:pPr>
            <a:r>
              <a:rPr lang="en" sz="900">
                <a:solidFill>
                  <a:schemeClr val="dk1"/>
                </a:solidFill>
                <a:latin typeface="Times New Roman"/>
                <a:ea typeface="Times New Roman"/>
                <a:cs typeface="Times New Roman"/>
                <a:sym typeface="Times New Roman"/>
              </a:rPr>
              <a:t>Glycogen phosphorylase b is i</a:t>
            </a:r>
            <a:r>
              <a:rPr lang="en" sz="900">
                <a:solidFill>
                  <a:srgbClr val="000000"/>
                </a:solidFill>
                <a:latin typeface="Times New Roman"/>
                <a:ea typeface="Times New Roman"/>
                <a:cs typeface="Times New Roman"/>
                <a:sym typeface="Times New Roman"/>
              </a:rPr>
              <a:t>nvolved in the glycogen metabolism that gets regulated by three allosteric regulators (AMP, d(+)maltose and Curry). </a:t>
            </a:r>
            <a:endParaRPr sz="9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